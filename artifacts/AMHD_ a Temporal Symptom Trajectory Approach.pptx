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BM Plex Sans"/>
      <p:regular r:id="rId15"/>
      <p:bold r:id="rId16"/>
      <p:italic r:id="rId17"/>
      <p:boldItalic r:id="rId18"/>
    </p:embeddedFont>
    <p:embeddedFont>
      <p:font typeface="Sora SemiBold"/>
      <p:regular r:id="rId19"/>
      <p:bold r:id="rId20"/>
    </p:embeddedFont>
    <p:embeddedFont>
      <p:font typeface="IBM Plex Sans Medium"/>
      <p:regular r:id="rId21"/>
      <p:bold r:id="rId22"/>
      <p:italic r:id="rId23"/>
      <p:boldItalic r:id="rId24"/>
    </p:embeddedFont>
    <p:embeddedFont>
      <p:font typeface="Sora Light"/>
      <p:regular r:id="rId25"/>
      <p:bold r:id="rId26"/>
    </p:embeddedFont>
    <p:embeddedFont>
      <p:font typeface="Sora ExtraLight"/>
      <p:regular r:id="rId27"/>
      <p:bold r:id="rId28"/>
    </p:embeddedFont>
    <p:embeddedFont>
      <p:font typeface="Sora"/>
      <p:regular r:id="rId29"/>
      <p:bold r:id="rId30"/>
    </p:embeddedFont>
    <p:embeddedFont>
      <p:font typeface="Sora Medium"/>
      <p:regular r:id="rId31"/>
      <p:bold r:id="rId32"/>
    </p:embeddedFont>
    <p:embeddedFont>
      <p:font typeface="IBM Plex Sans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Medium-regular.fntdata"/><Relationship Id="rId30" Type="http://schemas.openxmlformats.org/officeDocument/2006/relationships/font" Target="fonts/Sora-bold.fntdata"/><Relationship Id="rId33" Type="http://schemas.openxmlformats.org/officeDocument/2006/relationships/font" Target="fonts/IBMPlexSansSemiBold-regular.fntdata"/><Relationship Id="rId32" Type="http://schemas.openxmlformats.org/officeDocument/2006/relationships/font" Target="fonts/SoraMedium-bold.fntdata"/><Relationship Id="rId35" Type="http://schemas.openxmlformats.org/officeDocument/2006/relationships/font" Target="fonts/IBMPlexSansSemiBold-italic.fntdata"/><Relationship Id="rId34" Type="http://schemas.openxmlformats.org/officeDocument/2006/relationships/font" Target="fonts/IBMPlexSansSemiBold-bold.fntdata"/><Relationship Id="rId36" Type="http://schemas.openxmlformats.org/officeDocument/2006/relationships/font" Target="fonts/IBMPlexSansSemiBold-boldItalic.fntdata"/><Relationship Id="rId20" Type="http://schemas.openxmlformats.org/officeDocument/2006/relationships/font" Target="fonts/SoraSemiBold-bold.fntdata"/><Relationship Id="rId22" Type="http://schemas.openxmlformats.org/officeDocument/2006/relationships/font" Target="fonts/IBMPlexSansMedium-bold.fntdata"/><Relationship Id="rId21" Type="http://schemas.openxmlformats.org/officeDocument/2006/relationships/font" Target="fonts/IBMPlexSansMedium-regular.fntdata"/><Relationship Id="rId24" Type="http://schemas.openxmlformats.org/officeDocument/2006/relationships/font" Target="fonts/IBMPlexSansMedium-boldItalic.fntdata"/><Relationship Id="rId23" Type="http://schemas.openxmlformats.org/officeDocument/2006/relationships/font" Target="fonts/IBMPlexSansMedium-italic.fntdata"/><Relationship Id="rId26" Type="http://schemas.openxmlformats.org/officeDocument/2006/relationships/font" Target="fonts/SoraLight-bold.fntdata"/><Relationship Id="rId25" Type="http://schemas.openxmlformats.org/officeDocument/2006/relationships/font" Target="fonts/SoraLight-regular.fntdata"/><Relationship Id="rId28" Type="http://schemas.openxmlformats.org/officeDocument/2006/relationships/font" Target="fonts/SoraExtraLight-bold.fntdata"/><Relationship Id="rId27" Type="http://schemas.openxmlformats.org/officeDocument/2006/relationships/font" Target="fonts/SoraExtraLight-regular.fntdata"/><Relationship Id="rId29" Type="http://schemas.openxmlformats.org/officeDocument/2006/relationships/font" Target="fonts/Sor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BMPlexSans-regular.fntdata"/><Relationship Id="rId14" Type="http://schemas.openxmlformats.org/officeDocument/2006/relationships/slide" Target="slides/slide9.xml"/><Relationship Id="rId17" Type="http://schemas.openxmlformats.org/officeDocument/2006/relationships/font" Target="fonts/IBMPlexSans-italic.fntdata"/><Relationship Id="rId16" Type="http://schemas.openxmlformats.org/officeDocument/2006/relationships/font" Target="fonts/IBMPlexSans-bold.fntdata"/><Relationship Id="rId19" Type="http://schemas.openxmlformats.org/officeDocument/2006/relationships/font" Target="fonts/SoraSemiBold-regular.fntdata"/><Relationship Id="rId18" Type="http://schemas.openxmlformats.org/officeDocument/2006/relationships/font" Target="fonts/IBMPlex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78281bd0ea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78281bd0ea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78281bd0ea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78281bd0ea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78281bd0ea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78281bd0ea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78281bd0ea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78281bd0ea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78281bd0ea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78281bd0ea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78281bd0ea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78281bd0ea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78281bd0ea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78281bd0ea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78281bd0ea_0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78281bd0ea_0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78281bd0ea_0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78281bd0ea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Tanner O’Rourke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two297@my.utexas.edu</a:t>
            </a:r>
            <a:endParaRPr/>
          </a:p>
        </p:txBody>
      </p:sp>
      <p:sp>
        <p:nvSpPr>
          <p:cNvPr id="889" name="Google Shape;889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51"/>
          <p:cNvSpPr txBox="1"/>
          <p:nvPr>
            <p:ph type="title"/>
          </p:nvPr>
        </p:nvSpPr>
        <p:spPr>
          <a:xfrm>
            <a:off x="124950" y="1142850"/>
            <a:ext cx="5876700" cy="28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Augmenting Mental Health Decision-Making: a Temporal Symptom Trajectory Approach</a:t>
            </a:r>
            <a:endParaRPr sz="2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96" name="Google Shape;896;p52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2025/Sum/AI in Healthcare</a:t>
            </a:r>
            <a:endParaRPr/>
          </a:p>
        </p:txBody>
      </p:sp>
      <p:sp>
        <p:nvSpPr>
          <p:cNvPr id="897" name="Google Shape;897;p52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5</a:t>
            </a:r>
            <a:r>
              <a:rPr b="0" lang="en" sz="1700"/>
              <a:t>.</a:t>
            </a:r>
            <a:endParaRPr b="0" sz="1700"/>
          </a:p>
        </p:txBody>
      </p:sp>
      <p:sp>
        <p:nvSpPr>
          <p:cNvPr id="898" name="Google Shape;898;p52"/>
          <p:cNvSpPr txBox="1"/>
          <p:nvPr>
            <p:ph idx="6" type="subTitle"/>
          </p:nvPr>
        </p:nvSpPr>
        <p:spPr>
          <a:xfrm>
            <a:off x="4482800" y="2944994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Training &amp; Modeling</a:t>
            </a:r>
            <a:endParaRPr sz="1300"/>
          </a:p>
        </p:txBody>
      </p:sp>
      <p:sp>
        <p:nvSpPr>
          <p:cNvPr id="899" name="Google Shape;899;p52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4</a:t>
            </a:r>
            <a:r>
              <a:rPr b="0" lang="en" sz="1700"/>
              <a:t>.</a:t>
            </a:r>
            <a:endParaRPr b="0" sz="1700"/>
          </a:p>
        </p:txBody>
      </p:sp>
      <p:sp>
        <p:nvSpPr>
          <p:cNvPr id="900" name="Google Shape;900;p52"/>
          <p:cNvSpPr txBox="1"/>
          <p:nvPr>
            <p:ph idx="8" type="subTitle"/>
          </p:nvPr>
        </p:nvSpPr>
        <p:spPr>
          <a:xfrm>
            <a:off x="4482800" y="2411994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Feature Engineering</a:t>
            </a:r>
            <a:endParaRPr sz="1300"/>
          </a:p>
        </p:txBody>
      </p:sp>
      <p:sp>
        <p:nvSpPr>
          <p:cNvPr id="901" name="Google Shape;901;p52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3.</a:t>
            </a:r>
            <a:endParaRPr b="0" sz="1700"/>
          </a:p>
        </p:txBody>
      </p:sp>
      <p:sp>
        <p:nvSpPr>
          <p:cNvPr id="902" name="Google Shape;902;p52"/>
          <p:cNvSpPr txBox="1"/>
          <p:nvPr>
            <p:ph idx="13" type="subTitle"/>
          </p:nvPr>
        </p:nvSpPr>
        <p:spPr>
          <a:xfrm>
            <a:off x="4482800" y="1899422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Dataset Extraction</a:t>
            </a:r>
            <a:endParaRPr sz="1300"/>
          </a:p>
        </p:txBody>
      </p:sp>
      <p:sp>
        <p:nvSpPr>
          <p:cNvPr id="903" name="Google Shape;903;p52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2</a:t>
            </a:r>
            <a:r>
              <a:rPr b="0" lang="en" sz="1700"/>
              <a:t>.</a:t>
            </a:r>
            <a:endParaRPr b="0" sz="1700"/>
          </a:p>
        </p:txBody>
      </p:sp>
      <p:sp>
        <p:nvSpPr>
          <p:cNvPr id="904" name="Google Shape;904;p52"/>
          <p:cNvSpPr txBox="1"/>
          <p:nvPr>
            <p:ph idx="15" type="subTitle"/>
          </p:nvPr>
        </p:nvSpPr>
        <p:spPr>
          <a:xfrm>
            <a:off x="4482800" y="1365634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Motivation</a:t>
            </a:r>
            <a:endParaRPr sz="1300"/>
          </a:p>
        </p:txBody>
      </p:sp>
      <p:sp>
        <p:nvSpPr>
          <p:cNvPr id="905" name="Google Shape;905;p52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1</a:t>
            </a:r>
            <a:r>
              <a:rPr b="0" lang="en" sz="1700"/>
              <a:t>.</a:t>
            </a:r>
            <a:endParaRPr b="0" sz="1700"/>
          </a:p>
        </p:txBody>
      </p:sp>
      <p:sp>
        <p:nvSpPr>
          <p:cNvPr id="906" name="Google Shape;906;p52"/>
          <p:cNvSpPr txBox="1"/>
          <p:nvPr>
            <p:ph idx="1" type="subTitle"/>
          </p:nvPr>
        </p:nvSpPr>
        <p:spPr>
          <a:xfrm>
            <a:off x="4482800" y="4014107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Parting Thoughts</a:t>
            </a:r>
            <a:endParaRPr sz="1300"/>
          </a:p>
        </p:txBody>
      </p:sp>
      <p:sp>
        <p:nvSpPr>
          <p:cNvPr id="907" name="Google Shape;907;p52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6.</a:t>
            </a:r>
            <a:endParaRPr b="0" sz="1700"/>
          </a:p>
        </p:txBody>
      </p:sp>
      <p:sp>
        <p:nvSpPr>
          <p:cNvPr id="908" name="Google Shape;908;p52"/>
          <p:cNvSpPr txBox="1"/>
          <p:nvPr>
            <p:ph idx="4" type="subTitle"/>
          </p:nvPr>
        </p:nvSpPr>
        <p:spPr>
          <a:xfrm>
            <a:off x="4482800" y="3478782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Results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2025/Sum/AI in Healthcare</a:t>
            </a:r>
            <a:endParaRPr/>
          </a:p>
        </p:txBody>
      </p:sp>
      <p:sp>
        <p:nvSpPr>
          <p:cNvPr id="914" name="Google Shape;914;p53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solve continuous mental health modeling using sparse EHR data in a real-world setting?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9" name="Google Shape;919;p54"/>
          <p:cNvCxnSpPr/>
          <p:nvPr/>
        </p:nvCxnSpPr>
        <p:spPr>
          <a:xfrm>
            <a:off x="682863" y="2676625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0" name="Google Shape;920;p54"/>
          <p:cNvSpPr/>
          <p:nvPr/>
        </p:nvSpPr>
        <p:spPr>
          <a:xfrm>
            <a:off x="235030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1" name="Google Shape;921;p54"/>
          <p:cNvSpPr/>
          <p:nvPr/>
        </p:nvSpPr>
        <p:spPr>
          <a:xfrm>
            <a:off x="42150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2" name="Google Shape;922;p54"/>
          <p:cNvSpPr/>
          <p:nvPr/>
        </p:nvSpPr>
        <p:spPr>
          <a:xfrm>
            <a:off x="6214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3" name="Google Shape;923;p54"/>
          <p:cNvSpPr/>
          <p:nvPr/>
        </p:nvSpPr>
        <p:spPr>
          <a:xfrm>
            <a:off x="6089013" y="249603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4" name="Google Shape;924;p54"/>
          <p:cNvSpPr/>
          <p:nvPr/>
        </p:nvSpPr>
        <p:spPr>
          <a:xfrm>
            <a:off x="7730567" y="2263523"/>
            <a:ext cx="825900" cy="826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5" name="Google Shape;925;p54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Synthea</a:t>
            </a:r>
            <a:endParaRPr/>
          </a:p>
        </p:txBody>
      </p:sp>
      <p:sp>
        <p:nvSpPr>
          <p:cNvPr id="926" name="Google Shape;926;p54"/>
          <p:cNvSpPr txBox="1"/>
          <p:nvPr>
            <p:ph idx="3" type="title"/>
          </p:nvPr>
        </p:nvSpPr>
        <p:spPr>
          <a:xfrm>
            <a:off x="1842374" y="2031200"/>
            <a:ext cx="13746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Screening Scores</a:t>
            </a:r>
            <a:endParaRPr/>
          </a:p>
        </p:txBody>
      </p:sp>
      <p:sp>
        <p:nvSpPr>
          <p:cNvPr id="927" name="Google Shape;927;p54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Lifestyle</a:t>
            </a:r>
            <a:endParaRPr/>
          </a:p>
        </p:txBody>
      </p:sp>
      <p:sp>
        <p:nvSpPr>
          <p:cNvPr id="928" name="Google Shape;928;p54"/>
          <p:cNvSpPr txBox="1"/>
          <p:nvPr>
            <p:ph idx="6" type="title"/>
          </p:nvPr>
        </p:nvSpPr>
        <p:spPr>
          <a:xfrm>
            <a:off x="5450275" y="2031200"/>
            <a:ext cx="17832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Coverage Calendar</a:t>
            </a:r>
            <a:endParaRPr/>
          </a:p>
        </p:txBody>
      </p:sp>
      <p:sp>
        <p:nvSpPr>
          <p:cNvPr id="929" name="Google Shape;929;p54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 Boost</a:t>
            </a:r>
            <a:endParaRPr/>
          </a:p>
        </p:txBody>
      </p:sp>
      <p:sp>
        <p:nvSpPr>
          <p:cNvPr id="930" name="Google Shape;930;p54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PHQ-9 Modeling</a:t>
            </a:r>
            <a:endParaRPr/>
          </a:p>
        </p:txBody>
      </p:sp>
      <p:sp>
        <p:nvSpPr>
          <p:cNvPr id="931" name="Google Shape;931;p5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2025/Sum/AI in Healthcare</a:t>
            </a:r>
            <a:endParaRPr/>
          </a:p>
        </p:txBody>
      </p:sp>
      <p:sp>
        <p:nvSpPr>
          <p:cNvPr id="932" name="Google Shape;932;p54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Extraction</a:t>
            </a:r>
            <a:endParaRPr/>
          </a:p>
        </p:txBody>
      </p:sp>
      <p:sp>
        <p:nvSpPr>
          <p:cNvPr id="933" name="Google Shape;933;p54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Alcohol use, smoking status, pregnancy</a:t>
            </a:r>
            <a:endParaRPr/>
          </a:p>
        </p:txBody>
      </p:sp>
      <p:sp>
        <p:nvSpPr>
          <p:cNvPr id="934" name="Google Shape;934;p54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a continuous event log and patient log of events</a:t>
            </a:r>
            <a:endParaRPr/>
          </a:p>
        </p:txBody>
      </p:sp>
      <p:sp>
        <p:nvSpPr>
          <p:cNvPr id="935" name="Google Shape;935;p54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PHQ-9, PHQ-2, GAD-7, AUDIT-C, DAST-10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5"/>
          <p:cNvSpPr txBox="1"/>
          <p:nvPr>
            <p:ph idx="4294967295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2025/Sum/AI in Healthcare</a:t>
            </a:r>
            <a:endParaRPr/>
          </a:p>
        </p:txBody>
      </p:sp>
      <p:sp>
        <p:nvSpPr>
          <p:cNvPr id="941" name="Google Shape;941;p55"/>
          <p:cNvSpPr txBox="1"/>
          <p:nvPr>
            <p:ph idx="4294967295" type="title"/>
          </p:nvPr>
        </p:nvSpPr>
        <p:spPr>
          <a:xfrm>
            <a:off x="399400" y="457200"/>
            <a:ext cx="76311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Feature Engineering</a:t>
            </a:r>
            <a:endParaRPr sz="4500"/>
          </a:p>
        </p:txBody>
      </p:sp>
      <p:sp>
        <p:nvSpPr>
          <p:cNvPr id="942" name="Google Shape;942;p55"/>
          <p:cNvSpPr txBox="1"/>
          <p:nvPr/>
        </p:nvSpPr>
        <p:spPr>
          <a:xfrm>
            <a:off x="316500" y="1293900"/>
            <a:ext cx="34197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-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Factorizing Codes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-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Y_relapse, y_det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-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adherent_flag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-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Stratified random sampling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43" name="Google Shape;94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52845"/>
            <a:ext cx="4572000" cy="3690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56"/>
          <p:cNvSpPr txBox="1"/>
          <p:nvPr>
            <p:ph idx="4294967295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2025/Sum/AI in Healthcare</a:t>
            </a:r>
            <a:endParaRPr/>
          </a:p>
        </p:txBody>
      </p:sp>
      <p:sp>
        <p:nvSpPr>
          <p:cNvPr id="949" name="Google Shape;949;p56"/>
          <p:cNvSpPr txBox="1"/>
          <p:nvPr>
            <p:ph idx="4294967295" type="title"/>
          </p:nvPr>
        </p:nvSpPr>
        <p:spPr>
          <a:xfrm>
            <a:off x="399400" y="457200"/>
            <a:ext cx="52917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Training &amp; Modeling</a:t>
            </a:r>
            <a:endParaRPr sz="4500"/>
          </a:p>
        </p:txBody>
      </p:sp>
      <p:sp>
        <p:nvSpPr>
          <p:cNvPr id="950" name="Google Shape;950;p56"/>
          <p:cNvSpPr txBox="1"/>
          <p:nvPr/>
        </p:nvSpPr>
        <p:spPr>
          <a:xfrm>
            <a:off x="316500" y="1293900"/>
            <a:ext cx="47358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-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3-Head XGB Boost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-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AUROC, AUPRC scoring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-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Plotting runs to confusion matrices, ROC curves, and F1 threshold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57"/>
          <p:cNvSpPr txBox="1"/>
          <p:nvPr>
            <p:ph idx="4294967295" type="title"/>
          </p:nvPr>
        </p:nvSpPr>
        <p:spPr>
          <a:xfrm>
            <a:off x="417450" y="356950"/>
            <a:ext cx="5291700" cy="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Results</a:t>
            </a:r>
            <a:endParaRPr sz="4500"/>
          </a:p>
        </p:txBody>
      </p:sp>
      <p:pic>
        <p:nvPicPr>
          <p:cNvPr id="956" name="Google Shape;956;p57" title="cm_y_det_te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00" y="1221225"/>
            <a:ext cx="2359901" cy="176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57" title="roc_y_relapse_te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4325" y="3243900"/>
            <a:ext cx="2359901" cy="176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57" title="roc_y_det_v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700" y="3260625"/>
            <a:ext cx="2359901" cy="176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57" title="cm_y_relapse_tes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4325" y="1221225"/>
            <a:ext cx="2281800" cy="171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57" title="roc_non_adherent_flag_va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89341" y="3243894"/>
            <a:ext cx="2359901" cy="1769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8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2025/Sum/AI in Healthcare</a:t>
            </a:r>
            <a:endParaRPr/>
          </a:p>
        </p:txBody>
      </p:sp>
      <p:sp>
        <p:nvSpPr>
          <p:cNvPr id="966" name="Google Shape;966;p58"/>
          <p:cNvSpPr txBox="1"/>
          <p:nvPr>
            <p:ph type="title"/>
          </p:nvPr>
        </p:nvSpPr>
        <p:spPr>
          <a:xfrm>
            <a:off x="399400" y="457200"/>
            <a:ext cx="52917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Parting Thoughts</a:t>
            </a:r>
            <a:endParaRPr sz="4500"/>
          </a:p>
        </p:txBody>
      </p:sp>
      <p:sp>
        <p:nvSpPr>
          <p:cNvPr id="967" name="Google Shape;967;p58"/>
          <p:cNvSpPr txBox="1"/>
          <p:nvPr/>
        </p:nvSpPr>
        <p:spPr>
          <a:xfrm>
            <a:off x="316500" y="1293900"/>
            <a:ext cx="47358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ra"/>
              <a:buChar char="-"/>
            </a:pPr>
            <a:r>
              <a:rPr lang="en" sz="16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Long Term Short Term Modeling</a:t>
            </a:r>
            <a:endParaRPr sz="1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ra"/>
              <a:buChar char="-"/>
            </a:pPr>
            <a:r>
              <a:rPr lang="en" sz="16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Feature Engineering troubles</a:t>
            </a:r>
            <a:endParaRPr sz="1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9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